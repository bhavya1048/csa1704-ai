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 accuracy of next-best action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58</c:v>
                </c:pt>
                <c:pt idx="2">
                  <c:v>64</c:v>
                </c:pt>
                <c:pt idx="3">
                  <c:v>69</c:v>
                </c:pt>
                <c:pt idx="4">
                  <c:v>74</c:v>
                </c:pt>
                <c:pt idx="5">
                  <c:v>79</c:v>
                </c:pt>
                <c:pt idx="6">
                  <c:v>83</c:v>
                </c:pt>
                <c:pt idx="7">
                  <c:v>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94-4520-A78D-C25BC7FC26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B79"/>
                    </a:solidFill>
                    <a:latin typeface="Arial"/>
                  </a:rPr>
                  <a:t>Policy 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80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8810" y="448056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94" y="7406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397" y="191109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AGENT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40397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Personalized Education System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0397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Adaptation • Reinforcement Learning • Distributed Data Processing with PySpark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368258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397" y="443441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A3ECF-79B8-2E49-BDBF-D799E0C177E3}"/>
              </a:ext>
            </a:extLst>
          </p:cNvPr>
          <p:cNvSpPr txBox="1"/>
          <p:nvPr/>
        </p:nvSpPr>
        <p:spPr>
          <a:xfrm>
            <a:off x="740397" y="3749886"/>
            <a:ext cx="4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CSA1704-ARTIFICIAL INTELLIGENCE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9BA4E-4884-4578-E05D-E5254595E3D0}"/>
              </a:ext>
            </a:extLst>
          </p:cNvPr>
          <p:cNvSpPr txBox="1"/>
          <p:nvPr/>
        </p:nvSpPr>
        <p:spPr>
          <a:xfrm>
            <a:off x="8673483" y="4912103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PRESENTED BY:</a:t>
            </a:r>
          </a:p>
          <a:p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Sadhana v(192565042)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Bhavya S(192524376)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Jenitta </a:t>
            </a:r>
            <a:r>
              <a:rPr lang="en-IN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Praisy</a:t>
            </a: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I(19256506 )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E76F8-AAAA-C2D6-5BBF-AB2E43A8146B}"/>
              </a:ext>
            </a:extLst>
          </p:cNvPr>
          <p:cNvSpPr txBox="1"/>
          <p:nvPr/>
        </p:nvSpPr>
        <p:spPr>
          <a:xfrm>
            <a:off x="740397" y="4910727"/>
            <a:ext cx="2278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DR.M.ANOOP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walkthrough of an intelligent, self-improving learning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332720" cy="932688"/>
          </a:xfrm>
          <a:prstGeom prst="roundRect">
            <a:avLst>
              <a:gd name="adj" fmla="val 7843"/>
            </a:avLst>
          </a:prstGeom>
          <a:solidFill>
            <a:srgbClr val="ED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201168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ite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24" y="21696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500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perception, decision-making, and action loop together inside the platform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21240" y="203911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48640" y="2990088"/>
            <a:ext cx="10332720" cy="932688"/>
          </a:xfrm>
          <a:prstGeom prst="roundRect">
            <a:avLst>
              <a:gd name="adj" fmla="val 7843"/>
            </a:avLst>
          </a:prstGeom>
          <a:solidFill>
            <a:srgbClr val="ED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813816" y="31272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24" y="32852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99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Feedback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691640" y="346557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signals that let the agent improve teaching decisions over time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921240" y="31546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48640" y="4105656"/>
            <a:ext cx="10332720" cy="932688"/>
          </a:xfrm>
          <a:prstGeom prst="roundRect">
            <a:avLst>
              <a:gd name="adj" fmla="val 7843"/>
            </a:avLst>
          </a:prstGeom>
          <a:solidFill>
            <a:srgbClr val="EDF3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3816" y="42428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gau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24" y="4400824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215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Difficulty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91640" y="458114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calibration of content difficulty to each learner's mastery level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921240" y="427024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548640" y="5221224"/>
            <a:ext cx="10332720" cy="932688"/>
          </a:xfrm>
          <a:prstGeom prst="roundRect">
            <a:avLst>
              <a:gd name="adj" fmla="val 7843"/>
            </a:avLst>
          </a:prstGeom>
          <a:solidFill>
            <a:srgbClr val="EDF3F6"/>
          </a:solidFill>
          <a:ln/>
        </p:spPr>
      </p:sp>
      <p:sp>
        <p:nvSpPr>
          <p:cNvPr id="23" name="Shape 18"/>
          <p:cNvSpPr/>
          <p:nvPr/>
        </p:nvSpPr>
        <p:spPr>
          <a:xfrm>
            <a:off x="813816" y="535838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24" y="5516392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Integration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691640" y="56967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that scales the agent to millions of learner events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921240" y="5385816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sense → decide → act loop, closed by continuous feedback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3604" y="179222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tud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834" y="1941454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283464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learner actions: responses, time-on-task, hints used, quiz results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98648" y="2656332"/>
            <a:ext cx="28346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16002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55364" y="179222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594" y="194145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64992" y="283464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Knowledge Tracing / IRT estimates current mastery &amp; engagement state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550408" y="2656332"/>
            <a:ext cx="28346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5852160" y="16002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07124" y="179222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bulls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354" y="1941454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016752" y="283464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selects next content, hint, or difficulty level to maximize learning gain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202168" y="2656332"/>
            <a:ext cx="28346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17"/>
          <p:cNvSpPr/>
          <p:nvPr/>
        </p:nvSpPr>
        <p:spPr>
          <a:xfrm>
            <a:off x="8503920" y="16002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58884" y="179222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114" y="1941454"/>
            <a:ext cx="323332" cy="3233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668512" y="283464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item, hint, or remediation to the learner interface in real time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669780" y="393192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1714500" y="4297680"/>
            <a:ext cx="79552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headEnd type="none"/>
            <a:tailEnd type="none"/>
          </a:ln>
        </p:spPr>
      </p:sp>
      <p:sp>
        <p:nvSpPr>
          <p:cNvPr id="29" name="Shape 23"/>
          <p:cNvSpPr/>
          <p:nvPr/>
        </p:nvSpPr>
        <p:spPr>
          <a:xfrm>
            <a:off x="1714500" y="4297680"/>
            <a:ext cx="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30" name="Text 24"/>
          <p:cNvSpPr/>
          <p:nvPr/>
        </p:nvSpPr>
        <p:spPr>
          <a:xfrm>
            <a:off x="548640" y="449884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updates the model after every interaction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Through Feedback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framed as a reinforcement-learning problem: it earns reward for decisions that boost mastery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D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608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stud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68" y="198808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020824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Learner's knowledge &amp; context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700784" y="2670048"/>
            <a:ext cx="164592" cy="16459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852928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D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" y="311353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rando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3240816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9718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27355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 next item/hint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700784" y="3922776"/>
            <a:ext cx="164592" cy="16459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4105656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DF3F6"/>
          </a:solidFill>
          <a:ln/>
        </p:spPr>
      </p:sp>
      <p:sp>
        <p:nvSpPr>
          <p:cNvPr id="17" name="Shape 13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68" y="449354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22452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17320" y="4526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retention, engagement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700784" y="5175504"/>
            <a:ext cx="164592" cy="16459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5358384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DF3F6"/>
          </a:solidFill>
          <a:ln/>
        </p:spPr>
      </p:sp>
      <p:sp>
        <p:nvSpPr>
          <p:cNvPr id="23" name="Shape 18"/>
          <p:cNvSpPr/>
          <p:nvPr/>
        </p:nvSpPr>
        <p:spPr>
          <a:xfrm>
            <a:off x="786384" y="561898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sync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68" y="5746272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547725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Update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417320" y="57790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adjusted (e.g. via gradient / bandit update)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 flipH="1">
            <a:off x="164592" y="1600200"/>
            <a:ext cx="384048" cy="4809744"/>
          </a:xfrm>
          <a:prstGeom prst="bentConnector3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3520440" y="158191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agent learning curve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520440" y="1874520"/>
          <a:ext cx="74066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" name="Text 23"/>
          <p:cNvSpPr/>
          <p:nvPr/>
        </p:nvSpPr>
        <p:spPr>
          <a:xfrm>
            <a:off x="3520440" y="58978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learner interactions are logged, the policy's next-best-action predictions steadily improve.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Difficulty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difficulty is recalibrated after every response to keep learners in their zone of optimal challenge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57784" y="1645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gaug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47" y="1781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6002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 Estimation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61872" y="1911096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Response Theory / Bayesian Knowledge Tracing scores ability in real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" y="26334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icons/rando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47" y="2769535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58775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Matching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61872" y="289864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item chosen so predicted success probability sits near the target band (~65-80%)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" y="36210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47" y="3757087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57530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Detection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61872" y="388620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accuracy &amp; latency trends trigger step-up or step-down adjustments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7784" y="46085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47" y="4744639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456285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 Gate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61872" y="487375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advances to the next topic only once mastery threshold is sustained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92240" y="169164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76656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adapts to performance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949440" y="5074920"/>
            <a:ext cx="868680" cy="502920"/>
          </a:xfrm>
          <a:prstGeom prst="roundRect">
            <a:avLst>
              <a:gd name="adj" fmla="val 7273"/>
            </a:avLst>
          </a:prstGeom>
          <a:solidFill>
            <a:srgbClr val="9FB4C4"/>
          </a:solidFill>
          <a:ln/>
        </p:spPr>
      </p:sp>
      <p:sp>
        <p:nvSpPr>
          <p:cNvPr id="23" name="Text 17"/>
          <p:cNvSpPr/>
          <p:nvPr/>
        </p:nvSpPr>
        <p:spPr>
          <a:xfrm>
            <a:off x="6858000" y="56327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138160" y="4709160"/>
            <a:ext cx="868680" cy="86868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5" name="Text 19"/>
          <p:cNvSpPr/>
          <p:nvPr/>
        </p:nvSpPr>
        <p:spPr>
          <a:xfrm>
            <a:off x="8046720" y="56327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326880" y="4297680"/>
            <a:ext cx="868680" cy="12801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27" name="Text 21"/>
          <p:cNvSpPr/>
          <p:nvPr/>
        </p:nvSpPr>
        <p:spPr>
          <a:xfrm>
            <a:off x="9235440" y="56327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0515600" y="3886200"/>
            <a:ext cx="868680" cy="1691640"/>
          </a:xfrm>
          <a:prstGeom prst="roundRect">
            <a:avLst>
              <a:gd name="adj" fmla="val 4211"/>
            </a:avLst>
          </a:prstGeom>
          <a:solidFill>
            <a:srgbClr val="02C39A"/>
          </a:solidFill>
          <a:ln/>
        </p:spPr>
      </p:sp>
      <p:sp>
        <p:nvSpPr>
          <p:cNvPr id="29" name="Text 23"/>
          <p:cNvSpPr/>
          <p:nvPr/>
        </p:nvSpPr>
        <p:spPr>
          <a:xfrm>
            <a:off x="10424160" y="56327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7665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climb the staircase as accuracy rises; a slump triggers a step back down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with PySpark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turns millions of raw interaction events into features the agent can act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2788920"/>
          </a:xfrm>
          <a:prstGeom prst="roundRect">
            <a:avLst>
              <a:gd name="adj" fmla="val 3309"/>
            </a:avLst>
          </a:prstGeom>
          <a:solidFill>
            <a:srgbClr val="EDF3F6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91109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048" y="206910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154680"/>
            <a:ext cx="21579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&amp; response logs streamed from the app via Kafka into Spark Structured Streaming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44952" y="2976372"/>
            <a:ext cx="23774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691640"/>
            <a:ext cx="2487168" cy="27889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191109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248" y="206910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ETL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6432" y="3154680"/>
            <a:ext cx="21579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DataFrames clean, join, and aggregate events across the learner population in parallel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88152" y="2976372"/>
            <a:ext cx="23774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1691640"/>
            <a:ext cx="2487168" cy="2788920"/>
          </a:xfrm>
          <a:prstGeom prst="roundRect">
            <a:avLst>
              <a:gd name="adj" fmla="val 3309"/>
            </a:avLst>
          </a:prstGeom>
          <a:solidFill>
            <a:srgbClr val="EDF3F6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191109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448" y="2069104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Store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9632" y="3154680"/>
            <a:ext cx="21579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(mastery, pace, hint-use rate) written to a shared store for the agent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531352" y="2976372"/>
            <a:ext cx="237744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17"/>
          <p:cNvSpPr/>
          <p:nvPr/>
        </p:nvSpPr>
        <p:spPr>
          <a:xfrm>
            <a:off x="8778240" y="1691640"/>
            <a:ext cx="2487168" cy="27889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692640" y="191109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0648" y="2069104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87968" y="2697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MLlib Training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942832" y="3154680"/>
            <a:ext cx="21579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retrains the difficulty/recommendation model on the full historical dataset on a schedule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754880"/>
            <a:ext cx="11064240" cy="621792"/>
          </a:xfrm>
          <a:prstGeom prst="roundRect">
            <a:avLst>
              <a:gd name="adj" fmla="val 10294"/>
            </a:avLst>
          </a:prstGeom>
          <a:solidFill>
            <a:srgbClr val="21295C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475488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Spark: elastic clusters handle bursty exam-season traffic, and the same DataFrame pipeline serves both nightly batch retraining and near-real-time feature updates.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feedback-driven, distributed learning agent delivers to students and institutions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739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19099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progresses through content matched to their own mastery, not a fixed curriculum.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17739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99" y="19099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compounds over time as the agent learns from every interaction.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7739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gau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239" y="190999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Right-Level Challenge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743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learners disengage from content that is too easy or give up on content that is too hard.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968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59" y="410455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to Millions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9377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pipelines let the same architecture serve a classroom or an entire district.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17136" y="3968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cha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199" y="4104559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6177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Data-Backed Decisions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49377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dashboards built on the same feature store the agent uses to decide.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43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3968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239" y="4104559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6177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Mastery Signals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49377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struggling learners enables timely, targeted intervention.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60020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s/handshake_2129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9293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